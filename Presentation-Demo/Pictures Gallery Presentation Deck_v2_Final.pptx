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3AFA-BF34-9577-8FB0-D64560AB8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36E5B-9F9B-CE89-E678-B374C7BB4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147E-3628-D9C7-F1B7-4879321F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223A8-D412-2BFC-1A53-8639E87D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2855D-1E64-9E0E-8DDB-560A38A8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E9FE-FE03-61AD-A382-438AD45A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BA44-0BC0-ED5B-C93A-0DE5579C9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25A4-8626-175F-EC40-B916B8B2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00F8-0BA3-481F-66F3-5DEC359CB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8BBA-D784-42AD-9327-7640D9B5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0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B755-6CD7-7A1C-E7A5-BAD9CC3D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B5F52-3F6A-1FBD-2469-D761128DF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40D31-DB98-3D2D-03A9-F3AA6F2D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1FFD3-F860-CD58-75CE-921F0E210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8A141-28FB-951D-F605-C397E7E3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0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82B1-CDB5-3614-2738-AF91009C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A87A-C87F-4457-E162-45791142E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FB996-63AD-0915-14AE-31E976F9A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A4716-DD68-0082-0F2D-7E0A766F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20E4C-6816-5AFE-4F8A-0DEDE1B5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6C385-89C4-37CF-0452-E0C88A1F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6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479B-25B7-E26D-1674-11DF1E67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22ED6-4830-4B2F-E09D-C1D7F6731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89DBE-786C-9602-CDC9-18BBBDE1E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D5C56-2E12-BDE0-0721-29AEFC03C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706C0-BFF2-0C8E-D1F1-E87FB9990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701FE-38A0-4B02-D0DA-3C8931E2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27AD5-4D46-2D54-52DF-C56A3797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9F940-E4F8-C874-80B7-C09FD08D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5865-1C3A-E046-078C-1C512C29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79A18-0DE7-A515-4389-6934CBCD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AB0DD-155E-F560-462B-B6CBA3B4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EA2C0-F30C-FD20-83A2-5A9ACB7F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3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3C956-B853-1FA4-CA62-3EEC603B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AECEE-7AA6-046F-E0EA-39C7635B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38FA-48CD-0624-8581-40B61D0B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1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7E16-BB0C-E45D-EB30-5CF21440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2F2C-00BB-E3D3-B5BC-A4435BDF8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30C34-1ED8-0B98-5239-9B41D8C36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6637A-675C-18CE-0CB8-55D7D079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527BC-4DA8-15AB-E2A9-08DF2B34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8AFAA-197D-9B57-6FE4-6DB2B088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778E-559A-6066-12DF-46E282D9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92B9B-83CD-ABA0-0362-92F3F36A4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ADFE1-E2C1-96A0-0CC5-491A88F07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E247-F815-BAE5-3D71-DD057DB6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00379-0A09-4A3C-34DA-2D3BC389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CEED8-EF51-78C0-E71A-BAF623A2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6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A86E-C7FD-07EF-509A-ADE7C72F7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2B1C1-C4A4-0E03-D4FD-633403DC8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366EB-B21D-9AB3-6A2A-BC667DA7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23EF-20DF-AC8B-8868-F69A6E98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F6AB0-92AF-E8D6-DF89-1AD337EE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1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1E8C6-9E44-30E9-BF21-0F01EE15B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C73CC-7731-27B5-B1B7-BFDE3758E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B49A6-41E8-1202-E238-AB838F686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2EF7A-186B-8D52-68A3-33D93DCE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D00F-3DD4-7FC0-8940-40A40F83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6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35F67-3B37-7A0E-48F1-BFE71DFAA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53ECF-9855-FB8A-ABE6-B4B00632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859BE-3399-192C-D37E-34FE3F10B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3C903-25B0-4A93-94FD-5722022D0B2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358C-E650-B985-B0C7-C4F2FC338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C9884-4248-9DC1-D5F7-813831E59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1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9EF3-A470-88B7-14FE-4E228DF290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Picture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1C47E-E600-9DB8-D919-6AC72B05A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CIS 386 Database Management Systems</a:t>
            </a:r>
          </a:p>
          <a:p>
            <a:r>
              <a:rPr lang="en-US" dirty="0"/>
              <a:t>Brendan Short</a:t>
            </a:r>
          </a:p>
          <a:p>
            <a:r>
              <a:rPr lang="en-US" dirty="0"/>
              <a:t>12/3/25</a:t>
            </a:r>
          </a:p>
        </p:txBody>
      </p:sp>
    </p:spTree>
    <p:extLst>
      <p:ext uri="{BB962C8B-B14F-4D97-AF65-F5344CB8AC3E}">
        <p14:creationId xmlns:p14="http://schemas.microsoft.com/office/powerpoint/2010/main" val="394660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D3EB-6C07-2762-1EC9-3574BB3D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Info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D3DCA-A6EF-7045-2B34-6481F260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Client: my dad, hobby landscape &amp; drone photographer in Northern Michigan.</a:t>
            </a:r>
          </a:p>
          <a:p>
            <a:r>
              <a:rPr lang="en-US" dirty="0"/>
              <a:t>Current state: everything on a single external drive, loose folders, no real catalog/search.</a:t>
            </a:r>
          </a:p>
          <a:p>
            <a:r>
              <a:rPr lang="en-US" dirty="0"/>
              <a:t>Risks &amp; pain points: hard to find “that one photo,” single point of failure with everything stored on one drive.</a:t>
            </a:r>
          </a:p>
          <a:p>
            <a:r>
              <a:rPr lang="en-US" dirty="0"/>
              <a:t>Requirements: searchable library, tagging, collections, video showcase.</a:t>
            </a:r>
          </a:p>
        </p:txBody>
      </p:sp>
    </p:spTree>
    <p:extLst>
      <p:ext uri="{BB962C8B-B14F-4D97-AF65-F5344CB8AC3E}">
        <p14:creationId xmlns:p14="http://schemas.microsoft.com/office/powerpoint/2010/main" val="139540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7431-1F53-84FE-7F91-62AA9AF4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Schema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8363C6-16B5-AA26-273F-5EE7D541B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7"/>
            <a:ext cx="5219307" cy="3537410"/>
          </a:xfrm>
        </p:spPr>
        <p:txBody>
          <a:bodyPr anchor="t">
            <a:normAutofit lnSpcReduction="10000"/>
          </a:bodyPr>
          <a:lstStyle/>
          <a:p>
            <a:r>
              <a:rPr lang="en-US" sz="2000" dirty="0"/>
              <a:t>Central </a:t>
            </a:r>
            <a:r>
              <a:rPr lang="en-US" sz="2000" b="1" dirty="0"/>
              <a:t>media</a:t>
            </a:r>
            <a:r>
              <a:rPr lang="en-US" sz="2000" dirty="0"/>
              <a:t> table: one row per photo or video (title, description, display file path, drone flag, upload datetime).</a:t>
            </a:r>
          </a:p>
          <a:p>
            <a:r>
              <a:rPr lang="en-US" sz="2000" dirty="0"/>
              <a:t>Subtype tables </a:t>
            </a:r>
            <a:r>
              <a:rPr lang="en-US" sz="2000" b="1" dirty="0"/>
              <a:t>photos</a:t>
            </a:r>
            <a:r>
              <a:rPr lang="en-US" sz="2000" dirty="0"/>
              <a:t> and </a:t>
            </a:r>
            <a:r>
              <a:rPr lang="en-US" sz="2000" b="1" dirty="0"/>
              <a:t>videos</a:t>
            </a:r>
            <a:r>
              <a:rPr lang="en-US" sz="2000" dirty="0"/>
              <a:t> share the same PK as media for photo/video-specific EXIF fields.</a:t>
            </a:r>
          </a:p>
          <a:p>
            <a:r>
              <a:rPr lang="en-US" sz="2000" dirty="0"/>
              <a:t>Tagging via </a:t>
            </a:r>
            <a:r>
              <a:rPr lang="en-US" sz="2000" b="1" dirty="0"/>
              <a:t>tags</a:t>
            </a:r>
            <a:r>
              <a:rPr lang="en-US" sz="2000" dirty="0"/>
              <a:t> + </a:t>
            </a:r>
            <a:r>
              <a:rPr lang="en-US" sz="2000" b="1" dirty="0" err="1"/>
              <a:t>media_tags</a:t>
            </a:r>
            <a:r>
              <a:rPr lang="en-US" sz="2000" dirty="0"/>
              <a:t> (zero-to-many).</a:t>
            </a:r>
          </a:p>
          <a:p>
            <a:r>
              <a:rPr lang="en-US" sz="2000" dirty="0"/>
              <a:t>Curated collections of media via </a:t>
            </a:r>
            <a:r>
              <a:rPr lang="en-US" sz="2000" b="1" dirty="0"/>
              <a:t>collections</a:t>
            </a:r>
            <a:r>
              <a:rPr lang="en-US" sz="2000" dirty="0"/>
              <a:t> + </a:t>
            </a:r>
            <a:r>
              <a:rPr lang="en-US" sz="2000" b="1" dirty="0" err="1"/>
              <a:t>collection_items</a:t>
            </a:r>
            <a:r>
              <a:rPr lang="en-US" sz="2000" b="1" dirty="0"/>
              <a:t> </a:t>
            </a:r>
            <a:r>
              <a:rPr lang="en-US" sz="2000" dirty="0"/>
              <a:t>(zero-to-many with position  attribute so collections can be ordered whichever way they want).</a:t>
            </a:r>
          </a:p>
        </p:txBody>
      </p:sp>
      <p:pic>
        <p:nvPicPr>
          <p:cNvPr id="5" name="Content Placeholder 4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D922365C-F191-FC69-06C9-33F4B591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021" y="1420474"/>
            <a:ext cx="4273463" cy="401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1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3190-3A66-5216-FF29-878FCF99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ER Diagram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748011-E363-586C-F03D-9F0974DF0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7"/>
            <a:ext cx="5219307" cy="3537410"/>
          </a:xfrm>
        </p:spPr>
        <p:txBody>
          <a:bodyPr anchor="t">
            <a:normAutofit fontScale="92500" lnSpcReduction="20000"/>
          </a:bodyPr>
          <a:lstStyle/>
          <a:p>
            <a:r>
              <a:rPr lang="en-US" b="1" dirty="0"/>
              <a:t>media</a:t>
            </a:r>
            <a:r>
              <a:rPr lang="en-US" dirty="0"/>
              <a:t> at the center</a:t>
            </a:r>
          </a:p>
          <a:p>
            <a:r>
              <a:rPr lang="en-US" dirty="0"/>
              <a:t>1–1 from </a:t>
            </a:r>
            <a:r>
              <a:rPr lang="en-US" b="1" dirty="0"/>
              <a:t>media</a:t>
            </a:r>
            <a:r>
              <a:rPr lang="en-US" dirty="0"/>
              <a:t> → </a:t>
            </a:r>
            <a:r>
              <a:rPr lang="en-US" b="1" dirty="0"/>
              <a:t>photos</a:t>
            </a:r>
            <a:r>
              <a:rPr lang="en-US" dirty="0"/>
              <a:t> and </a:t>
            </a:r>
            <a:r>
              <a:rPr lang="en-US" b="1" dirty="0"/>
              <a:t>media</a:t>
            </a:r>
            <a:r>
              <a:rPr lang="en-US" dirty="0"/>
              <a:t> → videos</a:t>
            </a:r>
          </a:p>
          <a:p>
            <a:pPr lvl="1"/>
            <a:r>
              <a:rPr lang="en-US" dirty="0"/>
              <a:t>Media can be considered a supertype with photos and videos begin a subtype</a:t>
            </a:r>
          </a:p>
          <a:p>
            <a:r>
              <a:rPr lang="en-US" dirty="0"/>
              <a:t>0–M between </a:t>
            </a:r>
            <a:r>
              <a:rPr lang="en-US" b="1" dirty="0"/>
              <a:t>media</a:t>
            </a:r>
            <a:r>
              <a:rPr lang="en-US" dirty="0"/>
              <a:t> and </a:t>
            </a:r>
            <a:r>
              <a:rPr lang="en-US" b="1" dirty="0"/>
              <a:t>tags</a:t>
            </a:r>
            <a:r>
              <a:rPr lang="en-US" dirty="0"/>
              <a:t> via </a:t>
            </a:r>
            <a:r>
              <a:rPr lang="en-US" b="1" dirty="0" err="1"/>
              <a:t>media_tags</a:t>
            </a:r>
            <a:r>
              <a:rPr lang="en-US" b="1" dirty="0"/>
              <a:t> </a:t>
            </a:r>
            <a:r>
              <a:rPr lang="en-US" dirty="0"/>
              <a:t>(association table)</a:t>
            </a:r>
          </a:p>
          <a:p>
            <a:r>
              <a:rPr lang="en-US" dirty="0"/>
              <a:t>0–M between </a:t>
            </a:r>
            <a:r>
              <a:rPr lang="en-US" b="1" dirty="0"/>
              <a:t>media</a:t>
            </a:r>
            <a:r>
              <a:rPr lang="en-US" dirty="0"/>
              <a:t> and </a:t>
            </a:r>
            <a:r>
              <a:rPr lang="en-US" b="1" dirty="0"/>
              <a:t>collections</a:t>
            </a:r>
            <a:r>
              <a:rPr lang="en-US" dirty="0"/>
              <a:t> via </a:t>
            </a:r>
            <a:r>
              <a:rPr lang="en-US" b="1" dirty="0" err="1"/>
              <a:t>collection_items</a:t>
            </a:r>
            <a:r>
              <a:rPr lang="en-US" b="1" dirty="0"/>
              <a:t> </a:t>
            </a:r>
            <a:r>
              <a:rPr lang="en-US" dirty="0"/>
              <a:t>(association table).</a:t>
            </a:r>
            <a:endParaRPr lang="en-US" b="1" dirty="0"/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F6A43C4-71A3-B453-A4D5-992BD4503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021" y="1580728"/>
            <a:ext cx="4273463" cy="36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9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06BE-FDB1-E51A-5936-F9AE042D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Data Analytics: 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AAC0-9745-4CBB-FBA6-6A45B3694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7" indent="-514357">
              <a:buFont typeface="+mj-lt"/>
              <a:buAutoNum type="arabicPeriod"/>
            </a:pPr>
            <a:r>
              <a:rPr lang="en-US" dirty="0"/>
              <a:t>How many media items do we have by type (PHOTO vs VIDEO) and by drone vs non-drone?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What are the top 10 most-used tags across all media?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For each collection, how many total items, drone items, photos, and videos does it contain?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For 2025, how many photos were captured per month?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For each tag, what percentage of tagged media are drone media?</a:t>
            </a:r>
          </a:p>
        </p:txBody>
      </p:sp>
    </p:spTree>
    <p:extLst>
      <p:ext uri="{BB962C8B-B14F-4D97-AF65-F5344CB8AC3E}">
        <p14:creationId xmlns:p14="http://schemas.microsoft.com/office/powerpoint/2010/main" val="38247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FCFA72-C9AD-2258-CFCC-3A2EC0610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764" y="141208"/>
            <a:ext cx="4559534" cy="1549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CF2B58-F2EC-15CC-EE03-814B95A8E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64" y="1821201"/>
            <a:ext cx="3613336" cy="18733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71EFD2-5868-44A8-5812-EF8E330C8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64" y="3825060"/>
            <a:ext cx="5848651" cy="29084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763208-D447-1C72-5672-3260E6C37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751" y="2453058"/>
            <a:ext cx="5537485" cy="24829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ACD347E-6928-7289-1E76-5F0EAA40B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829" y="141208"/>
            <a:ext cx="5010407" cy="220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4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5FBE-24B3-3667-2999-EEB235AD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0EEE6-C926-7C61-F44C-5038AFA77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lot of effort: multi-step manual ingestion (Lightroom export → </a:t>
            </a:r>
            <a:r>
              <a:rPr lang="en-US" dirty="0" err="1"/>
              <a:t>ExifTool</a:t>
            </a:r>
            <a:r>
              <a:rPr lang="en-US" dirty="0"/>
              <a:t> → CSV cleanup → SQL INSERT scripts.</a:t>
            </a:r>
          </a:p>
          <a:p>
            <a:r>
              <a:rPr lang="en-US" dirty="0"/>
              <a:t>Rigid schema: adding new EXIF fields means schema changes and new ingestion queries.</a:t>
            </a:r>
          </a:p>
          <a:p>
            <a:r>
              <a:rPr lang="en-US" dirty="0"/>
              <a:t>Not scalable: current pipeline doesn’t scale to hundreds or thousands of new files per month.</a:t>
            </a:r>
          </a:p>
        </p:txBody>
      </p:sp>
    </p:spTree>
    <p:extLst>
      <p:ext uri="{BB962C8B-B14F-4D97-AF65-F5344CB8AC3E}">
        <p14:creationId xmlns:p14="http://schemas.microsoft.com/office/powerpoint/2010/main" val="78922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3DC2-1C2A-2C16-9B5D-04122F25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With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F7D86-7E01-4DCA-6AC1-0D240A822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document per media item, instead of spreading data across 5+ tables.</a:t>
            </a:r>
          </a:p>
          <a:p>
            <a:r>
              <a:rPr lang="en-US" dirty="0"/>
              <a:t>Embed EXIF/capture metadata, tags, and collection membership inside each document.</a:t>
            </a:r>
          </a:p>
          <a:p>
            <a:r>
              <a:rPr lang="en-US" dirty="0"/>
              <a:t>Handle missing or extra fields naturally (schema flexibility).</a:t>
            </a:r>
          </a:p>
          <a:p>
            <a:r>
              <a:rPr lang="en-US" dirty="0"/>
              <a:t>Use aggregation pipelines to answer the same analysis questions as MySQL.</a:t>
            </a:r>
          </a:p>
        </p:txBody>
      </p:sp>
    </p:spTree>
    <p:extLst>
      <p:ext uri="{BB962C8B-B14F-4D97-AF65-F5344CB8AC3E}">
        <p14:creationId xmlns:p14="http://schemas.microsoft.com/office/powerpoint/2010/main" val="282000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9519-9C63-72ED-082A-67F31574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4BA6B-B9F1-D4E5-408D-8F5E40B0D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Single media collection; each document in this collection is a photo or video.</a:t>
            </a:r>
          </a:p>
          <a:p>
            <a:r>
              <a:rPr lang="en-US" dirty="0"/>
              <a:t>Embedded fields and subdocuments to construct the media object: </a:t>
            </a:r>
          </a:p>
          <a:p>
            <a:pPr lvl="1"/>
            <a:r>
              <a:rPr lang="en-US" dirty="0"/>
              <a:t>capture: </a:t>
            </a:r>
            <a:r>
              <a:rPr lang="en-US" dirty="0" err="1"/>
              <a:t>dateTime</a:t>
            </a:r>
            <a:r>
              <a:rPr lang="en-US" dirty="0"/>
              <a:t>, </a:t>
            </a:r>
            <a:r>
              <a:rPr lang="en-US" dirty="0" err="1"/>
              <a:t>durationSeconds</a:t>
            </a:r>
            <a:endParaRPr lang="en-US" dirty="0"/>
          </a:p>
          <a:p>
            <a:pPr lvl="1"/>
            <a:r>
              <a:rPr lang="en-US" dirty="0"/>
              <a:t>camera: </a:t>
            </a:r>
            <a:r>
              <a:rPr lang="en-US" dirty="0" err="1"/>
              <a:t>makeModel</a:t>
            </a:r>
            <a:r>
              <a:rPr lang="en-US" dirty="0"/>
              <a:t>, iso, </a:t>
            </a:r>
            <a:r>
              <a:rPr lang="en-US" dirty="0" err="1"/>
              <a:t>shutterSpeed</a:t>
            </a:r>
            <a:r>
              <a:rPr lang="en-US" dirty="0"/>
              <a:t>, aperture, </a:t>
            </a:r>
            <a:r>
              <a:rPr lang="en-US" dirty="0" err="1"/>
              <a:t>focalLength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tags: array of { </a:t>
            </a:r>
            <a:r>
              <a:rPr lang="en-US" dirty="0" err="1"/>
              <a:t>tagId</a:t>
            </a:r>
            <a:r>
              <a:rPr lang="en-US" dirty="0"/>
              <a:t>, name }</a:t>
            </a:r>
          </a:p>
          <a:p>
            <a:pPr lvl="1"/>
            <a:r>
              <a:rPr lang="en-US" dirty="0"/>
              <a:t>collections: array of { </a:t>
            </a:r>
            <a:r>
              <a:rPr lang="en-US" dirty="0" err="1"/>
              <a:t>collectionId</a:t>
            </a:r>
            <a:r>
              <a:rPr lang="en-US" dirty="0"/>
              <a:t>, name }</a:t>
            </a:r>
          </a:p>
          <a:p>
            <a:r>
              <a:rPr lang="en-US" dirty="0"/>
              <a:t>Everything fits into one collection, which simplifies reads for a single media item.</a:t>
            </a:r>
          </a:p>
          <a:p>
            <a:r>
              <a:rPr lang="en-US" dirty="0"/>
              <a:t>Tradeoff: aggregation queries are more complex (lots of $unwind, conditional logic) compared to SQL joins.</a:t>
            </a:r>
          </a:p>
        </p:txBody>
      </p:sp>
    </p:spTree>
    <p:extLst>
      <p:ext uri="{BB962C8B-B14F-4D97-AF65-F5344CB8AC3E}">
        <p14:creationId xmlns:p14="http://schemas.microsoft.com/office/powerpoint/2010/main" val="70910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746A-3D8D-3885-396C-C4CEEA1C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Analytics With MongoDB: 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C948-3491-496F-0E6C-B307A738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7" indent="-514357">
              <a:buAutoNum type="arabicPeriod"/>
            </a:pPr>
            <a:r>
              <a:rPr lang="en-US" dirty="0"/>
              <a:t>Count media items by type and drone flag using $group on </a:t>
            </a:r>
            <a:r>
              <a:rPr lang="en-US" dirty="0" err="1"/>
              <a:t>mediaType</a:t>
            </a:r>
            <a:r>
              <a:rPr lang="en-US" dirty="0"/>
              <a:t> and </a:t>
            </a:r>
            <a:r>
              <a:rPr lang="en-US" dirty="0" err="1"/>
              <a:t>isDrone</a:t>
            </a:r>
            <a:r>
              <a:rPr lang="en-US" dirty="0"/>
              <a:t>.</a:t>
            </a:r>
          </a:p>
          <a:p>
            <a:pPr marL="514357" indent="-514357">
              <a:buAutoNum type="arabicPeriod"/>
            </a:pPr>
            <a:r>
              <a:rPr lang="en-US" dirty="0"/>
              <a:t>Find the top 10 tags by counting how often each tag appears in tags (using $unwind).</a:t>
            </a:r>
          </a:p>
          <a:p>
            <a:pPr marL="514357" indent="-514357">
              <a:buAutoNum type="arabicPeriod"/>
            </a:pPr>
            <a:r>
              <a:rPr lang="en-US" dirty="0"/>
              <a:t>For each collection, compute total items and counts of drone, photo, and video items.</a:t>
            </a:r>
          </a:p>
          <a:p>
            <a:pPr marL="514357" indent="-514357">
              <a:buAutoNum type="arabicPeriod"/>
            </a:pPr>
            <a:r>
              <a:rPr lang="en-US" dirty="0"/>
              <a:t>For 2025 photos, group by capture month and count items.</a:t>
            </a:r>
          </a:p>
          <a:p>
            <a:pPr marL="514357" indent="-514357">
              <a:buAutoNum type="arabicPeriod"/>
            </a:pPr>
            <a:r>
              <a:rPr lang="en-US" dirty="0"/>
              <a:t>For each tag, compute what percentage of tagged media are drone media.</a:t>
            </a:r>
          </a:p>
        </p:txBody>
      </p:sp>
    </p:spTree>
    <p:extLst>
      <p:ext uri="{BB962C8B-B14F-4D97-AF65-F5344CB8AC3E}">
        <p14:creationId xmlns:p14="http://schemas.microsoft.com/office/powerpoint/2010/main" val="1231486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3DD3DA-164B-92BD-B92E-77B9F39EB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2013" cy="3403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D9754A-6F8E-A470-C8D0-F75FA3570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0256"/>
            <a:ext cx="4527030" cy="3457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1E894-B302-CE4E-D601-12A0E04A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412" y="0"/>
            <a:ext cx="6572588" cy="515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8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1EE96B-0B36-875E-3556-A79A5583E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6160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86400-499B-8C61-A96C-917337567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067" y="0"/>
            <a:ext cx="4910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0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88BC-EDDE-1B78-0365-640A8EAB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&amp; Contrast: </a:t>
            </a:r>
            <a:r>
              <a:rPr lang="en-US" dirty="0" err="1"/>
              <a:t>MySQLvs</a:t>
            </a:r>
            <a:r>
              <a:rPr lang="en-US" dirty="0"/>
              <a:t> MongoDB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E640-C689-DF3B-EF65-542DCBD5C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Data model:</a:t>
            </a:r>
          </a:p>
          <a:p>
            <a:pPr lvl="1"/>
            <a:r>
              <a:rPr lang="en-US" dirty="0"/>
              <a:t>MySQL: tables, strict schema, joins through FKs.</a:t>
            </a:r>
          </a:p>
          <a:p>
            <a:pPr lvl="1"/>
            <a:r>
              <a:rPr lang="en-US" dirty="0"/>
              <a:t>MongoDB: single media collection with embedded documents, metadata and arrays.</a:t>
            </a:r>
          </a:p>
          <a:p>
            <a:r>
              <a:rPr lang="en-US" dirty="0"/>
              <a:t>Ingestion &amp; metadata</a:t>
            </a:r>
          </a:p>
          <a:p>
            <a:pPr lvl="1"/>
            <a:r>
              <a:rPr lang="en-US" dirty="0"/>
              <a:t>MySQL: import pipeline is fragile and high-effort when EXIF changes.</a:t>
            </a:r>
          </a:p>
          <a:p>
            <a:pPr lvl="1"/>
            <a:r>
              <a:rPr lang="en-US" dirty="0"/>
              <a:t>MongoDB: easier to accept partial or new fields without changing schema.</a:t>
            </a:r>
          </a:p>
          <a:p>
            <a:r>
              <a:rPr lang="en-US" dirty="0"/>
              <a:t>Analytics</a:t>
            </a:r>
          </a:p>
          <a:p>
            <a:pPr lvl="1"/>
            <a:r>
              <a:rPr lang="en-US" dirty="0"/>
              <a:t>MySQL: concise SQL for relational questions (GROUP BY, JOIN).</a:t>
            </a:r>
          </a:p>
          <a:p>
            <a:pPr lvl="1"/>
            <a:r>
              <a:rPr lang="en-US" dirty="0"/>
              <a:t>MongoDB: powerful but more complex aggregation pipelines.</a:t>
            </a:r>
          </a:p>
          <a:p>
            <a:r>
              <a:rPr lang="en-US" dirty="0"/>
              <a:t>Scalability for this use case</a:t>
            </a:r>
          </a:p>
          <a:p>
            <a:pPr lvl="1"/>
            <a:r>
              <a:rPr lang="en-US" dirty="0"/>
              <a:t> MySQL: fine for core gallery and reporting, but needs automation around ingestion.</a:t>
            </a:r>
          </a:p>
          <a:p>
            <a:pPr lvl="1"/>
            <a:r>
              <a:rPr lang="en-US" dirty="0"/>
              <a:t>MongoDB: better fit for changing media metadata, especially if I automate imports.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00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C0EA-80B7-294D-07BE-4AFDF4B9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Learned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31D7D-C5D9-2917-843C-AF266806E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Metadata challenges:</a:t>
            </a:r>
          </a:p>
          <a:p>
            <a:pPr lvl="1"/>
            <a:r>
              <a:rPr lang="en-US" dirty="0"/>
              <a:t>EXIF fields missing or inconsistent across tools (Windows vs Lightroom vs exports).</a:t>
            </a:r>
          </a:p>
          <a:p>
            <a:pPr lvl="1"/>
            <a:r>
              <a:rPr lang="en-US" dirty="0"/>
              <a:t>Deciding which fields deserve real columns vs staying optional.</a:t>
            </a:r>
          </a:p>
          <a:p>
            <a:r>
              <a:rPr lang="en-US" dirty="0"/>
              <a:t>Displaying media in the application layer:</a:t>
            </a:r>
          </a:p>
          <a:p>
            <a:pPr lvl="1"/>
            <a:r>
              <a:rPr lang="en-US" dirty="0"/>
              <a:t>Keeping full-resolution, display-size, and watermarked paths straight.</a:t>
            </a:r>
          </a:p>
          <a:p>
            <a:pPr lvl="1"/>
            <a:r>
              <a:rPr lang="en-US" dirty="0"/>
              <a:t>Fixing file-path mismatches that caused broken images and wrong versions to show.</a:t>
            </a:r>
          </a:p>
          <a:p>
            <a:r>
              <a:rPr lang="en-US" dirty="0"/>
              <a:t>Overall lessons:</a:t>
            </a:r>
          </a:p>
          <a:p>
            <a:pPr lvl="1"/>
            <a:r>
              <a:rPr lang="en-US" dirty="0"/>
              <a:t>Design from real data and workflows, not just an abstract schema.</a:t>
            </a:r>
          </a:p>
          <a:p>
            <a:pPr lvl="2"/>
            <a:r>
              <a:rPr lang="en-US" dirty="0"/>
              <a:t>Easy to make sample data. More difficult to manipulate and work with real data.</a:t>
            </a:r>
          </a:p>
          <a:p>
            <a:pPr lvl="1"/>
            <a:r>
              <a:rPr lang="en-US" dirty="0"/>
              <a:t>Ingestion and metadata quality are just as important as table design. They need to be exact and consistent.</a:t>
            </a:r>
          </a:p>
          <a:p>
            <a:pPr lvl="1"/>
            <a:r>
              <a:rPr lang="en-US" dirty="0"/>
              <a:t>Modeling the same database in both MySQL and MongoDB gives a deeper understanding of trade-offs.</a:t>
            </a:r>
          </a:p>
          <a:p>
            <a:pPr lvl="2"/>
            <a:r>
              <a:rPr lang="en-US" dirty="0"/>
              <a:t>MongoDB in my opinion is more difficult to start with, but once configured properly, it is much easier to use.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56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6FDC-DA79-80DD-EB26-2132E736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 dirty="0"/>
              <a:t>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DABF-4157-C2A3-8174-4F0F07510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219307" cy="3537410"/>
          </a:xfrm>
        </p:spPr>
        <p:txBody>
          <a:bodyPr anchor="t">
            <a:normAutofit/>
          </a:bodyPr>
          <a:lstStyle/>
          <a:p>
            <a:r>
              <a:rPr lang="en-US" sz="2000" dirty="0"/>
              <a:t>Scan QR to open GitHub repository in browser.</a:t>
            </a:r>
          </a:p>
          <a:p>
            <a:r>
              <a:rPr lang="en-US" sz="2000" dirty="0"/>
              <a:t>HTTPS clone:</a:t>
            </a:r>
          </a:p>
          <a:p>
            <a:pPr marL="400050" lvl="1" indent="0">
              <a:buNone/>
            </a:pPr>
            <a:r>
              <a:rPr lang="en-US" sz="2000" dirty="0"/>
              <a:t>https://github.com/bcshort1/Database-Project.git</a:t>
            </a:r>
          </a:p>
          <a:p>
            <a:pPr marL="285750"/>
            <a:r>
              <a:rPr lang="en-US" sz="2000" dirty="0"/>
              <a:t>GitHub Desktop Command-Line Interface clone:</a:t>
            </a:r>
          </a:p>
          <a:p>
            <a:pPr marL="400050" lvl="1" indent="0">
              <a:buNone/>
            </a:pPr>
            <a:r>
              <a:rPr lang="en-US" sz="2000" dirty="0" err="1"/>
              <a:t>gh</a:t>
            </a:r>
            <a:r>
              <a:rPr lang="en-US" sz="2000" dirty="0"/>
              <a:t> repo clone bcshort1/Database-Project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DDD79-D1B6-8415-84F4-EB5C5448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019" y="1292268"/>
            <a:ext cx="4273463" cy="427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0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272</TotalTime>
  <Words>908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Picture Database</vt:lpstr>
      <vt:lpstr>Organization Info and Requirements</vt:lpstr>
      <vt:lpstr>Schema</vt:lpstr>
      <vt:lpstr>ER Diagram</vt:lpstr>
      <vt:lpstr>MySQL Data Analytics: 5 Questions</vt:lpstr>
      <vt:lpstr>PowerPoint Presentation</vt:lpstr>
      <vt:lpstr>Problems With MySQL</vt:lpstr>
      <vt:lpstr>Solution With MongoDB</vt:lpstr>
      <vt:lpstr>MongoDB Schema</vt:lpstr>
      <vt:lpstr>Data Analytics With MongoDB: 5 Questions</vt:lpstr>
      <vt:lpstr>PowerPoint Presentation</vt:lpstr>
      <vt:lpstr>PowerPoint Presentation</vt:lpstr>
      <vt:lpstr>Compare &amp; Contrast: MySQLvs MongoDB </vt:lpstr>
      <vt:lpstr>What I Learned and Challenges</vt:lpstr>
      <vt:lpstr>GitHub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C. Short</dc:creator>
  <cp:lastModifiedBy>Brendan C. Short</cp:lastModifiedBy>
  <cp:revision>5</cp:revision>
  <dcterms:created xsi:type="dcterms:W3CDTF">2025-12-02T17:40:38Z</dcterms:created>
  <dcterms:modified xsi:type="dcterms:W3CDTF">2025-12-03T21:15:43Z</dcterms:modified>
</cp:coreProperties>
</file>